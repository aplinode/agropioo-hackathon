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45720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C1D8C1"/>
          </a:solidFill>
          <a:ln/>
        </p:spPr>
      </p:sp>
      <p:pic>
        <p:nvPicPr>
          <p:cNvPr id="5" name="Image 0" descr="/home/sheikh-mohammad/Documents/hackathons/agropioo/presentations/agropioo-pitch-deck/assets/logo-foot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377440" cy="786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7132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BUILT FOR PAKISTAN · READY FOR THE WORLD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16002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farm knows more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1D8C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 the farmer is told.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13232" y="329184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AI agriculture advisor that knows your farm, your crop, your weather, and your history — and tells you what to do and when, in your own language.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GROWTH      ·      INTELLIGENCE      ·      ACCESS</a:t>
            </a:r>
            <a:endParaRPr lang="en-US" sz="1000" dirty="0"/>
          </a:p>
        </p:txBody>
      </p:sp>
      <p:pic>
        <p:nvPicPr>
          <p:cNvPr id="11" name="Image 1" descr="/home/sheikh-mohammad/Documents/hackathons/agropioo/presentations/agropioo-pitch-deck/assets/logo-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474720"/>
            <a:ext cx="1234440" cy="1234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3" name="Shape 9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Decisions made by memory, when the stakes are life and livelihood.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Pakistan's 45 million farmers plan planting, irrigation, and harvest through tradition, memory, and guesswork — with almost no live data beneath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46120"/>
            <a:ext cx="2514600" cy="45720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30–40%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0873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crops lost yearly to preventable disease, wasted water, and bad timing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324612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246120"/>
            <a:ext cx="2514600" cy="45720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&lt; 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40873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farms reached by extension &amp; advisory services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52160" y="324612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3246120"/>
            <a:ext cx="2514600" cy="45720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45M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26480" y="40873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farmers choosing high-stakes crops with no live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WHO IT AFFECTS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disease spotted too late. A field watered before the rain. A crop sold at the wrong market.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8638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a smallholder family, each of these is not an inconvenience — it is a season's income riding on a guess.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people with the least information have the most to lose. Agropioo is built for them, in their language, on the phone in their hand.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platform that turns a farmer's daily crop questions into clear, timed answers.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901952" cy="1965960"/>
          </a:xfrm>
          <a:prstGeom prst="roundRect">
            <a:avLst>
              <a:gd name="adj" fmla="val 5769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1901952" cy="82296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Advisor routes each question to the right specialist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901952" cy="1965960"/>
          </a:xfrm>
          <a:prstGeom prst="roundRect">
            <a:avLst>
              <a:gd name="adj" fmla="val 5769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743200"/>
            <a:ext cx="1901952" cy="82296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47472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 disease detection and live market prices and farm weather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743200"/>
            <a:ext cx="1901952" cy="1965960"/>
          </a:xfrm>
          <a:prstGeom prst="roundRect">
            <a:avLst>
              <a:gd name="adj" fmla="val 5769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743200"/>
            <a:ext cx="1901952" cy="82296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KNOW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47472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 records, growth stages, and profit &amp; loss for your own land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743200"/>
            <a:ext cx="1901952" cy="1965960"/>
          </a:xfrm>
          <a:prstGeom prst="roundRect">
            <a:avLst>
              <a:gd name="adj" fmla="val 5769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743200"/>
            <a:ext cx="1901952" cy="82296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GROW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47472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 recommendations and the schemes you qualify for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first sign-up to confident daily decisions.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585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240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Sign up &amp; choose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53288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language — Urdu, Punjabi, Pashto, Sindhi and more, with full right-to-left layout.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953512"/>
            <a:ext cx="6858000" cy="10973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9535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Map your farm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location, crop, and sowing date — the foundation all advice builds 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4480" y="3666744"/>
            <a:ext cx="6858000" cy="10973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850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66674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Ask the advisor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95935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anything about your crop; get answers grounded in your farm and live weather.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4379976"/>
            <a:ext cx="6858000" cy="10973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9826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37997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 with confidence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67258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diagnose a leaf, follow a weather advisory, and sell at the right price.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58521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WHAT'S BUILT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901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working suite of seven tools on one dashboard.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2606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4832"/>
            <a:ext cx="2606040" cy="45720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23113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88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✳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4128" y="2203704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Advisor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" y="2505456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specialist agents, live farm data, streaming chat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2084832"/>
            <a:ext cx="2606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2084832"/>
            <a:ext cx="2606040" cy="45720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223113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88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2203704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Disease Detection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49040" y="2505456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 in, diagnosis + treatment advice out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98464" y="2084832"/>
            <a:ext cx="2606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8464" y="2084832"/>
            <a:ext cx="2606040" cy="45720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223113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88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73952" y="2203704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Mandi Prices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73952" y="2505456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prices from 5 official sources + forecast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2606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00400"/>
            <a:ext cx="2606040" cy="45720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346704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88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24128" y="3319272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 Records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4128" y="3621024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fields on a map, every activity logged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73552" y="3200400"/>
            <a:ext cx="2606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3552" y="3200400"/>
            <a:ext cx="2606040" cy="45720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27" name="Text 25"/>
          <p:cNvSpPr/>
          <p:nvPr/>
        </p:nvSpPr>
        <p:spPr>
          <a:xfrm>
            <a:off x="3419856" y="3346704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88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☼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749040" y="3319272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 Advisory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49040" y="3621024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hyperlocal forecast turned into timed advice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98464" y="3200400"/>
            <a:ext cx="2606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98464" y="3200400"/>
            <a:ext cx="2606040" cy="45720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3346704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88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₨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73952" y="3319272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B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Profit &amp; Loss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73952" y="3621024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budget, spend, ROI and break-even per crop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315968"/>
            <a:ext cx="8055864" cy="475488"/>
          </a:xfrm>
          <a:prstGeom prst="roundRect">
            <a:avLst>
              <a:gd name="adj" fmla="val 23077"/>
            </a:avLst>
          </a:prstGeom>
          <a:solidFill>
            <a:srgbClr val="0E2A18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370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D8C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▲ Crop Planner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743200" y="444398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Soil, season, and market demand scored to surface the crops most likely to pay this year.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9" name="Shape 37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01 — AI ADVISOR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 a chatbot. A triage team of specialist agents.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2120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triage orchestrator understands your question and hands it to the right specialist — each with live tool access to your farm records, weather, market prices, and a curated knowledge base with vector search.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97880" y="21488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7608" y="2276856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 advisor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07608" y="26974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&amp; crop science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598664" y="21488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08392" y="2276856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08392" y="26974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forecast + advice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3172968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3300984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Farm-data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07608" y="3721608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records &amp; history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98664" y="3172968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8392" y="3300984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Prices 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08392" y="3721608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markets &amp; projections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97880" y="419709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4325112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Schemes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07608" y="4745736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subsidies you qualify for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98664" y="419709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08392" y="4325112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Handoff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08392" y="4745736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human escalation when needed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4114800" cy="10973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Streaming responses, conversation memory, persisted history — answers grounded in each farmer's own farm.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02 — DISEASE 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86384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photo of a leaf. A diagnosis and a treatment plan in seconds.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49377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a diseased leaf → the model classifies it across 38+ crop diseases → you get the disease, a confidence score, and clear next steps.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Then ask follow-up questions about it, and an AI turns the diagnosis into practical, local advice.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2011680"/>
            <a:ext cx="2880360" cy="2697480"/>
          </a:xfrm>
          <a:prstGeom prst="roundRect">
            <a:avLst>
              <a:gd name="adj" fmla="val 3390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SCAN → DIAGNOSE → TREAT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80760" y="27157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the affected leaf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31912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31729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Classified across 38+ diseases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36667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64845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score + diagnosis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41422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1239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Treatment advice, then ask more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41605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4224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Try it in the 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03 — LIVE MARKETS &amp; WEATHER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 data under real decisions.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D8C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Prices you can sell to, weather you can plan around.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977640" cy="2194560"/>
          </a:xfrm>
          <a:prstGeom prst="roundRect">
            <a:avLst>
              <a:gd name="adj" fmla="val 5000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Mandi Prices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prices pulled from five official Pakistani sources — Punjab, Sindh, KPK, Balochistan and the national SPI — with a statistical forecast of where prices are heading and sell / hold signals.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3159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Holt–Winters forecast  ·  price alerts  ·  admin ingest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2377440"/>
            <a:ext cx="3977640" cy="2194560"/>
          </a:xfrm>
          <a:prstGeom prst="roundRect">
            <a:avLst>
              <a:gd name="adj" fmla="val 5000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Weather Advisory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37760" y="301752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Hyperlocal forecast woven with your crop and its growth stage to produce one clear advisory a day: when to irrigate, when to spray, what to protect against — before conditions turn against you.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43159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OpenWeather  ·  stage-aware rules  ·  daily advisory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INNOVATION · 04 — THE DATA BACKBONE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Advice is only as good as the farm it is grounded 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2606040" cy="54864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883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Farm Records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182112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field mapped on an interactive map, every activity logged as a record with its growth stage.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24688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2468880"/>
            <a:ext cx="2606040" cy="54864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6883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Profit &amp; Loss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47288" y="3182112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a season, log expenses as they happen, and watch ROI and break-even move in real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0176" y="24688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0176" y="2468880"/>
            <a:ext cx="2606040" cy="54864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26883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Crop Planner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63056" y="3182112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Soil, season, and market demand scored to surface the crops most likely to pay this year.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Software-only, API-driven, built to run and to scale.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2311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25146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full-stack, no separate backend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33472" y="2148840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22311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Neon Postgres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61488" y="25146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Lakebase database, migrations in-repo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8304" y="2148840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311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@openai/agents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triaging multi-agent advisor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03136" y="2148840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22311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Hugging Face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1152" y="25146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plant-disease vision model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898648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98094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OpenWeather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26440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hyperlocal forecast feeds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33472" y="2898648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98094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official APIs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61488" y="326440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mandi price ingestion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2898648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8094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pgvector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26440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knowledge-base semantic search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2898648"/>
            <a:ext cx="1975104" cy="658368"/>
          </a:xfrm>
          <a:prstGeom prst="roundRect">
            <a:avLst>
              <a:gd name="adj" fmla="val 13889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98094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D8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31152" y="326440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 image storage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Secured sessions  ·  every route validated  ·  per-IP rate limiting  ·  uniform error shape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FEASIBILITY — WHAT WE'VE SHIPPED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98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Fully working today.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760720" cy="2514600"/>
          </a:xfrm>
          <a:prstGeom prst="roundRect">
            <a:avLst>
              <a:gd name="adj" fmla="val 3636"/>
            </a:avLst>
          </a:prstGeom>
          <a:solidFill>
            <a:srgbClr val="F5F2EC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SHIPPED &amp; TESTED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1518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6334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authentication — signup, OTP, login, reset (bcrypt · JWT)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88950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9077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advisor with 6 agents + streaming + RAG knowledge base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16382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18211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Disease detection — live vision model + treatment advice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43814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45643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Mandi prices — live intake from 5 sources + forecast + alerts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71246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7307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 advisory — hyperlocal forecast, stage-aware, daily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98678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0050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Farms, records, profit &amp; loss, crop planner — full CRUD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26110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83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2793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languages with right-to-left layout; 246 automated tests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2103120"/>
            <a:ext cx="2148840" cy="2514600"/>
          </a:xfrm>
          <a:prstGeom prst="roundRect">
            <a:avLst>
              <a:gd name="adj" fmla="val 4255"/>
            </a:avLst>
          </a:prstGeom>
          <a:solidFill>
            <a:srgbClr val="F0FDF4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642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61518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67728" y="2633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end-to-end polish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99923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67728" y="30175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non-English coverage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33832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67728" y="340156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Broader scheme eligibility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376732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4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67728" y="378561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 price sources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2" name="Shape 30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630936"/>
            <a:ext cx="68580" cy="68580"/>
          </a:xfrm>
          <a:prstGeom prst="ellipse">
            <a:avLst/>
          </a:prstGeom>
          <a:solidFill>
            <a:srgbClr val="3F88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1041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memory to margin.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 farmer knows before they act, the pattern of loss stops repeating.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2011680" cy="54864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20–40%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31520" y="3767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crops lost to preventable causes today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70048" y="2926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0048" y="2926080"/>
            <a:ext cx="2011680" cy="54864"/>
          </a:xfrm>
          <a:prstGeom prst="rect">
            <a:avLst/>
          </a:prstGeom>
          <a:solidFill>
            <a:srgbClr val="1C6428"/>
          </a:solidFill>
          <a:ln/>
        </p:spPr>
      </p:sp>
      <p:sp>
        <p:nvSpPr>
          <p:cNvPr id="12" name="Text 10"/>
          <p:cNvSpPr/>
          <p:nvPr/>
        </p:nvSpPr>
        <p:spPr>
          <a:xfrm>
            <a:off x="2852928" y="3154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30–40%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852928" y="3767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water wasted irrigating before the rain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91456" y="2926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1456" y="2926080"/>
            <a:ext cx="2011680" cy="54864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16" name="Text 14"/>
          <p:cNvSpPr/>
          <p:nvPr/>
        </p:nvSpPr>
        <p:spPr>
          <a:xfrm>
            <a:off x="4974336" y="3154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15–25%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974336" y="3767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by selling at the right market time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12864" y="2926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01B17"/>
          </a:solidFill>
          <a:ln w="12700">
            <a:solidFill>
              <a:srgbClr val="1C64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2864" y="2926080"/>
            <a:ext cx="2011680" cy="54864"/>
          </a:xfrm>
          <a:prstGeom prst="rect">
            <a:avLst/>
          </a:prstGeom>
          <a:solidFill>
            <a:srgbClr val="3F8839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744" y="3154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F88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8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095744" y="3767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languages, one local advisor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C1D8C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D8C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eikh-mohammad/Documents/hackathons/agropioo/presentations/agropioo-pitch-deck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377440" cy="7863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737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13B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 for Pakistan.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2468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6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Ready for the world.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3232" y="33832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agriculture that respects tradition and scales with technology — advice in every farmer's own language, on the phone already in their hand.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13232" y="42519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4325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early access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· by Aplinode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4869180"/>
            <a:ext cx="813816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" y="4919472"/>
            <a:ext cx="886968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4969764"/>
            <a:ext cx="7772400" cy="36576"/>
          </a:xfrm>
          <a:prstGeom prst="roundRect">
            <a:avLst>
              <a:gd name="adj" fmla="val 50000"/>
            </a:avLst>
          </a:prstGeom>
          <a:solidFill>
            <a:srgbClr val="013B1F"/>
          </a:solidFill>
          <a:ln/>
        </p:spPr>
      </p:sp>
      <p:sp>
        <p:nvSpPr>
          <p:cNvPr id="12" name="Shape 9"/>
          <p:cNvSpPr/>
          <p:nvPr/>
        </p:nvSpPr>
        <p:spPr>
          <a:xfrm>
            <a:off x="274320" y="5020056"/>
            <a:ext cx="8595360" cy="36576"/>
          </a:xfrm>
          <a:prstGeom prst="roundRect">
            <a:avLst>
              <a:gd name="adj" fmla="val 50000"/>
            </a:avLst>
          </a:prstGeom>
          <a:solidFill>
            <a:srgbClr val="1C6428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5070348"/>
            <a:ext cx="8046720" cy="36576"/>
          </a:xfrm>
          <a:prstGeom prst="roundRect">
            <a:avLst>
              <a:gd name="adj" fmla="val 50000"/>
            </a:avLst>
          </a:prstGeom>
          <a:solidFill>
            <a:srgbClr val="3F8839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Agropioo  ·  Soil &amp; Signal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Agropioo — AI Agriculture Advisor for Pakistan</dc:title>
  <dc:subject>PptxGenJS Presentation</dc:subject>
  <dc:creator>Agropioo</dc:creator>
  <cp:lastModifiedBy>Agropioo</cp:lastModifiedBy>
  <cp:revision>1</cp:revision>
  <dcterms:created xsi:type="dcterms:W3CDTF">2026-09-04T01:11:38Z</dcterms:created>
  <dcterms:modified xsi:type="dcterms:W3CDTF">2026-09-04T01:11:38Z</dcterms:modified>
</cp:coreProperties>
</file>